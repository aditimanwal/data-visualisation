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Fraunces" panose="020B0604020202020204" charset="0"/>
      <p:regular r:id="rId12"/>
    </p:embeddedFont>
    <p:embeddedFont>
      <p:font typeface="Fraunces Light" panose="020B0604020202020204" charset="0"/>
      <p:regular r:id="rId13"/>
    </p:embeddedFont>
    <p:embeddedFont>
      <p:font typeface="Public Sans" panose="020B0604020202020204" charset="0"/>
      <p:regular r:id="rId14"/>
    </p:embeddedFont>
    <p:embeddedFont>
      <p:font typeface="Public Sans Bold" panose="020B0604020202020204" charset="0"/>
      <p:regular r:id="rId15"/>
    </p:embeddedFont>
    <p:embeddedFont>
      <p:font typeface="Public Sans Thin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13220" y="3069293"/>
            <a:ext cx="17137760" cy="3661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07"/>
              </a:lnSpc>
            </a:pPr>
            <a:r>
              <a:rPr lang="en-US" sz="9407" spc="-376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ANALYTICS AND VISUALISATION CRITIQUE ASSESSMENT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9910777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1778727" y="8396159"/>
            <a:ext cx="6178360" cy="862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5057" dirty="0">
                <a:solidFill>
                  <a:srgbClr val="36211B"/>
                </a:solidFill>
                <a:latin typeface="Fraunces"/>
                <a:ea typeface="Fraunces"/>
                <a:cs typeface="Fraunces"/>
                <a:sym typeface="Fraunces"/>
              </a:rPr>
              <a:t>By Aditi Manuwal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1881" y="3483762"/>
            <a:ext cx="10143540" cy="0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511881" y="5766626"/>
            <a:ext cx="10143540" cy="0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0993896" y="376223"/>
            <a:ext cx="7294104" cy="9587663"/>
          </a:xfrm>
          <a:custGeom>
            <a:avLst/>
            <a:gdLst/>
            <a:ahLst/>
            <a:cxnLst/>
            <a:rect l="l" t="t" r="r" b="b"/>
            <a:pathLst>
              <a:path w="7294104" h="9587663">
                <a:moveTo>
                  <a:pt x="0" y="0"/>
                </a:moveTo>
                <a:lnTo>
                  <a:pt x="7294104" y="0"/>
                </a:lnTo>
                <a:lnTo>
                  <a:pt x="7294104" y="9587663"/>
                </a:lnTo>
                <a:lnTo>
                  <a:pt x="0" y="9587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915" r="-16203" b="-513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11881" y="2370289"/>
            <a:ext cx="9391457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spc="-144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Source:  Ourworldindata.org, WHO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160864" y="8843010"/>
            <a:ext cx="209843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E8E6E3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11881" y="704850"/>
            <a:ext cx="3578541" cy="1079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1"/>
              </a:lnSpc>
            </a:pPr>
            <a:r>
              <a:rPr lang="en-US" sz="6293" spc="-251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1881" y="3893063"/>
            <a:ext cx="9919452" cy="1253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4"/>
              </a:lnSpc>
            </a:pPr>
            <a:r>
              <a:rPr lang="en-US" sz="3538" spc="-141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Audience: Public Health Professionals, Researchers and Policymakers.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1881" y="6314314"/>
            <a:ext cx="10143540" cy="1260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6"/>
              </a:lnSpc>
            </a:pPr>
            <a:r>
              <a:rPr lang="en-US" sz="3618" spc="-144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COVID-19 Vaccinations share in bringing the Pandemic to an end.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11887" y="1775013"/>
            <a:ext cx="4043142" cy="4762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62262" y="1403536"/>
            <a:ext cx="3934603" cy="4762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936230" y="662414"/>
            <a:ext cx="13136299" cy="9217145"/>
          </a:xfrm>
          <a:custGeom>
            <a:avLst/>
            <a:gdLst/>
            <a:ahLst/>
            <a:cxnLst/>
            <a:rect l="l" t="t" r="r" b="b"/>
            <a:pathLst>
              <a:path w="13136299" h="9217145">
                <a:moveTo>
                  <a:pt x="0" y="0"/>
                </a:moveTo>
                <a:lnTo>
                  <a:pt x="13136300" y="0"/>
                </a:lnTo>
                <a:lnTo>
                  <a:pt x="13136300" y="9217146"/>
                </a:lnTo>
                <a:lnTo>
                  <a:pt x="0" y="9217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52" t="-1885" r="-82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2256" y="604311"/>
            <a:ext cx="3331937" cy="80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65"/>
              </a:lnSpc>
            </a:pPr>
            <a:r>
              <a:rPr lang="en-US" sz="4760" spc="-190" dirty="0" err="1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Visualisation</a:t>
            </a:r>
            <a:r>
              <a:rPr lang="en-US" sz="4760" spc="-190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256" y="1876401"/>
            <a:ext cx="4651268" cy="685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4"/>
              </a:lnSpc>
            </a:pPr>
            <a:r>
              <a:rPr lang="en-US" sz="3231" spc="-12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- A comparison of vaccine doses per million people.</a:t>
            </a:r>
          </a:p>
          <a:p>
            <a:pPr algn="l">
              <a:lnSpc>
                <a:spcPts val="4524"/>
              </a:lnSpc>
            </a:pPr>
            <a:endParaRPr lang="en-US" sz="3231" spc="-129" dirty="0">
              <a:solidFill>
                <a:srgbClr val="36211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524"/>
              </a:lnSpc>
            </a:pPr>
            <a:r>
              <a:rPr lang="en-US" sz="3231" spc="-12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-How countries have responded to evolving public health needs.</a:t>
            </a:r>
          </a:p>
          <a:p>
            <a:pPr algn="l">
              <a:lnSpc>
                <a:spcPts val="4524"/>
              </a:lnSpc>
            </a:pPr>
            <a:endParaRPr lang="en-US" sz="3231" spc="-129" dirty="0">
              <a:solidFill>
                <a:srgbClr val="36211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4524"/>
              </a:lnSpc>
            </a:pPr>
            <a:r>
              <a:rPr lang="en-US" sz="3231" spc="-12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-How progression of vaccination have changed overtime in China, India and The United States. </a:t>
            </a:r>
          </a:p>
          <a:p>
            <a:pPr algn="l">
              <a:lnSpc>
                <a:spcPts val="4524"/>
              </a:lnSpc>
            </a:pPr>
            <a:endParaRPr lang="en-US" sz="3231" spc="-129" dirty="0">
              <a:solidFill>
                <a:srgbClr val="36211B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549459" y="1204277"/>
            <a:ext cx="7171555" cy="7874953"/>
          </a:xfrm>
          <a:custGeom>
            <a:avLst/>
            <a:gdLst/>
            <a:ahLst/>
            <a:cxnLst/>
            <a:rect l="l" t="t" r="r" b="b"/>
            <a:pathLst>
              <a:path w="7171555" h="7874953">
                <a:moveTo>
                  <a:pt x="0" y="0"/>
                </a:moveTo>
                <a:lnTo>
                  <a:pt x="7171555" y="0"/>
                </a:lnTo>
                <a:lnTo>
                  <a:pt x="7171555" y="7874953"/>
                </a:lnTo>
                <a:lnTo>
                  <a:pt x="0" y="78749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00" r="-2200" b="-7477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96883" y="763905"/>
            <a:ext cx="8748083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spc="-180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General Characteristics of the Visual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2045409"/>
            <a:ext cx="10151825" cy="7399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spc="-6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Well-designed trend lines in time-series data providing a visual narrative. </a:t>
            </a:r>
          </a:p>
          <a:p>
            <a:pPr algn="l">
              <a:lnSpc>
                <a:spcPts val="4899"/>
              </a:lnSpc>
            </a:pPr>
            <a:r>
              <a:rPr lang="en-US" sz="3499" spc="-6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       (Stephen Few: Show me the numbers)</a:t>
            </a:r>
          </a:p>
          <a:p>
            <a:pPr algn="l">
              <a:lnSpc>
                <a:spcPts val="4899"/>
              </a:lnSpc>
            </a:pPr>
            <a:endParaRPr lang="en-US" sz="3499" spc="-69" dirty="0">
              <a:solidFill>
                <a:srgbClr val="36211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spc="-6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7-Day rolling average smooths out daily variations.</a:t>
            </a:r>
          </a:p>
          <a:p>
            <a:pPr algn="l">
              <a:lnSpc>
                <a:spcPts val="4899"/>
              </a:lnSpc>
            </a:pPr>
            <a:r>
              <a:rPr lang="en-US" sz="3499" spc="-6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       (Munzner’s guidelines recommend smoothing    </a:t>
            </a:r>
          </a:p>
          <a:p>
            <a:pPr algn="l">
              <a:lnSpc>
                <a:spcPts val="4899"/>
              </a:lnSpc>
            </a:pPr>
            <a:r>
              <a:rPr lang="en-US" sz="3499" spc="-6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       techniques for time-series data)</a:t>
            </a:r>
          </a:p>
          <a:p>
            <a:pPr algn="l">
              <a:lnSpc>
                <a:spcPts val="4899"/>
              </a:lnSpc>
            </a:pPr>
            <a:endParaRPr lang="en-US" sz="3499" spc="-69" dirty="0">
              <a:solidFill>
                <a:srgbClr val="36211B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en-US" sz="3499" spc="-6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Intuitive Flow with Temporal Continuity.  </a:t>
            </a:r>
          </a:p>
          <a:p>
            <a:pPr algn="l">
              <a:lnSpc>
                <a:spcPts val="4899"/>
              </a:lnSpc>
            </a:pPr>
            <a:r>
              <a:rPr lang="en-US" sz="3499" spc="-69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       (Gestalt Principles of Continuity) </a:t>
            </a:r>
          </a:p>
          <a:p>
            <a:pPr algn="l">
              <a:lnSpc>
                <a:spcPts val="4759"/>
              </a:lnSpc>
            </a:pPr>
            <a:r>
              <a:rPr lang="en-US" sz="3399" spc="-67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      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60864" y="8843010"/>
            <a:ext cx="209843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36211B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3</a:t>
            </a:r>
          </a:p>
        </p:txBody>
      </p:sp>
      <p:sp>
        <p:nvSpPr>
          <p:cNvPr id="7" name="AutoShape 7"/>
          <p:cNvSpPr/>
          <p:nvPr/>
        </p:nvSpPr>
        <p:spPr>
          <a:xfrm flipV="1">
            <a:off x="6" y="1558924"/>
            <a:ext cx="10151819" cy="9525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2783" y="2155033"/>
            <a:ext cx="5588773" cy="0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6122990" y="1260873"/>
            <a:ext cx="11718788" cy="8163655"/>
          </a:xfrm>
          <a:custGeom>
            <a:avLst/>
            <a:gdLst/>
            <a:ahLst/>
            <a:cxnLst/>
            <a:rect l="l" t="t" r="r" b="b"/>
            <a:pathLst>
              <a:path w="11718788" h="8163655">
                <a:moveTo>
                  <a:pt x="0" y="0"/>
                </a:moveTo>
                <a:lnTo>
                  <a:pt x="11718788" y="0"/>
                </a:lnTo>
                <a:lnTo>
                  <a:pt x="11718788" y="8163655"/>
                </a:lnTo>
                <a:lnTo>
                  <a:pt x="0" y="8163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7" b="-38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60864" y="8843010"/>
            <a:ext cx="209843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36211B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783" y="438150"/>
            <a:ext cx="4969581" cy="147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7"/>
              </a:lnSpc>
            </a:pPr>
            <a:r>
              <a:rPr lang="en-US" sz="8576" spc="-343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Strengths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2467339"/>
            <a:ext cx="6122990" cy="6341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298" lvl="1" indent="-313149" algn="l">
              <a:lnSpc>
                <a:spcPts val="5076"/>
              </a:lnSpc>
              <a:buFont typeface="Arial"/>
              <a:buChar char="•"/>
            </a:pPr>
            <a:r>
              <a:rPr lang="en-US" sz="2900" spc="-58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Effective representation of colors</a:t>
            </a:r>
            <a:r>
              <a:rPr lang="en-US" sz="2900" spc="-58" dirty="0">
                <a:solidFill>
                  <a:srgbClr val="36211B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.</a:t>
            </a:r>
          </a:p>
          <a:p>
            <a:pPr marL="626298" lvl="1" indent="-313149" algn="l">
              <a:lnSpc>
                <a:spcPts val="5076"/>
              </a:lnSpc>
              <a:buFont typeface="Arial"/>
              <a:buChar char="•"/>
            </a:pPr>
            <a:r>
              <a:rPr lang="en-US" sz="2900" spc="-58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Significantly Visible Population Differences.</a:t>
            </a:r>
          </a:p>
          <a:p>
            <a:pPr marL="626298" lvl="1" indent="-313149" algn="l">
              <a:lnSpc>
                <a:spcPts val="5076"/>
              </a:lnSpc>
              <a:buFont typeface="Arial"/>
              <a:buChar char="•"/>
            </a:pPr>
            <a:r>
              <a:rPr lang="en-US" sz="2900" spc="-58" dirty="0" err="1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Minimised</a:t>
            </a:r>
            <a:r>
              <a:rPr lang="en-US" sz="2900" spc="-58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 non-essential ink thereby avoiding Visual Clutter.</a:t>
            </a:r>
          </a:p>
          <a:p>
            <a:pPr marL="626298" lvl="1" indent="-313149" algn="l">
              <a:lnSpc>
                <a:spcPts val="5076"/>
              </a:lnSpc>
              <a:buFont typeface="Arial"/>
              <a:buChar char="•"/>
            </a:pPr>
            <a:r>
              <a:rPr lang="en-US" sz="2900" spc="-58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Comprehensive view of vaccination rates.</a:t>
            </a:r>
          </a:p>
          <a:p>
            <a:pPr marL="626298" lvl="1" indent="-313149" algn="l">
              <a:lnSpc>
                <a:spcPts val="5076"/>
              </a:lnSpc>
              <a:buFont typeface="Arial"/>
              <a:buChar char="•"/>
            </a:pPr>
            <a:r>
              <a:rPr lang="en-US" sz="2900" spc="-58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Direct Cross-country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7662" y="1682103"/>
            <a:ext cx="10193070" cy="0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2027306"/>
            <a:ext cx="16930974" cy="8102569"/>
          </a:xfrm>
          <a:custGeom>
            <a:avLst/>
            <a:gdLst/>
            <a:ahLst/>
            <a:cxnLst/>
            <a:rect l="l" t="t" r="r" b="b"/>
            <a:pathLst>
              <a:path w="16930974" h="8102569">
                <a:moveTo>
                  <a:pt x="0" y="0"/>
                </a:moveTo>
                <a:lnTo>
                  <a:pt x="16930974" y="0"/>
                </a:lnTo>
                <a:lnTo>
                  <a:pt x="16930974" y="8102569"/>
                </a:lnTo>
                <a:lnTo>
                  <a:pt x="0" y="81025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3" b="-8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60864" y="8843010"/>
            <a:ext cx="209843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E8E6E3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662" y="399110"/>
            <a:ext cx="9287548" cy="113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6"/>
              </a:lnSpc>
            </a:pPr>
            <a:r>
              <a:rPr lang="en-US" sz="6675" spc="-267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Weaknesses - Conceptual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7662" y="1682103"/>
            <a:ext cx="10193070" cy="0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421728" y="2002369"/>
            <a:ext cx="10608058" cy="7255931"/>
          </a:xfrm>
          <a:custGeom>
            <a:avLst/>
            <a:gdLst/>
            <a:ahLst/>
            <a:cxnLst/>
            <a:rect l="l" t="t" r="r" b="b"/>
            <a:pathLst>
              <a:path w="10608058" h="7255931">
                <a:moveTo>
                  <a:pt x="0" y="0"/>
                </a:moveTo>
                <a:lnTo>
                  <a:pt x="10608058" y="0"/>
                </a:lnTo>
                <a:lnTo>
                  <a:pt x="10608058" y="7255931"/>
                </a:lnTo>
                <a:lnTo>
                  <a:pt x="0" y="72559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595" b="-1595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60864" y="8843010"/>
            <a:ext cx="209843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E8E6E3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662" y="399110"/>
            <a:ext cx="9287548" cy="113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6"/>
              </a:lnSpc>
            </a:pPr>
            <a:r>
              <a:rPr lang="en-US" sz="6675" spc="-267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Weaknesses - Design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7662" y="1907119"/>
            <a:ext cx="7102993" cy="798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7959" lvl="1" indent="-353979" algn="l">
              <a:lnSpc>
                <a:spcPts val="4885"/>
              </a:lnSpc>
              <a:buFont typeface="Arial"/>
              <a:buChar char="•"/>
            </a:pPr>
            <a:r>
              <a:rPr lang="en-US" sz="3279" spc="-65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Inefficient use of Gestalt Principles of Similarity and Continuity.</a:t>
            </a:r>
          </a:p>
          <a:p>
            <a:pPr marL="707959" lvl="1" indent="-353979" algn="l">
              <a:lnSpc>
                <a:spcPts val="4885"/>
              </a:lnSpc>
              <a:buFont typeface="Arial"/>
              <a:buChar char="•"/>
            </a:pPr>
            <a:r>
              <a:rPr lang="en-US" sz="3279" spc="-65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Ineffective Representation of Post-2023 trends. (</a:t>
            </a:r>
            <a:r>
              <a:rPr lang="en-US" sz="3279" spc="-65" dirty="0" err="1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Rensick’s</a:t>
            </a:r>
            <a:r>
              <a:rPr lang="en-US" sz="3279" spc="-65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 thesis 2014)</a:t>
            </a:r>
          </a:p>
          <a:p>
            <a:pPr marL="707959" lvl="1" indent="-353979" algn="l">
              <a:lnSpc>
                <a:spcPts val="4885"/>
              </a:lnSpc>
              <a:buFont typeface="Arial"/>
              <a:buChar char="•"/>
            </a:pPr>
            <a:r>
              <a:rPr lang="en-US" sz="3279" spc="-65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Axes is not optimally scaled and inefficient use of space.             (Stephen Few)</a:t>
            </a:r>
          </a:p>
          <a:p>
            <a:pPr marL="707959" lvl="1" indent="-353979" algn="l">
              <a:lnSpc>
                <a:spcPts val="4885"/>
              </a:lnSpc>
              <a:buFont typeface="Arial"/>
              <a:buChar char="•"/>
            </a:pPr>
            <a:r>
              <a:rPr lang="en-US" sz="3279" spc="-65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Poor usage of Visual </a:t>
            </a:r>
            <a:r>
              <a:rPr lang="en-US" sz="3279" spc="-65" dirty="0" err="1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Hierachy</a:t>
            </a:r>
            <a:r>
              <a:rPr lang="en-US" sz="3279" spc="-65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.      (Andy Kirk)</a:t>
            </a:r>
          </a:p>
          <a:p>
            <a:pPr marL="707959" lvl="1" indent="-353979" algn="l">
              <a:lnSpc>
                <a:spcPts val="4885"/>
              </a:lnSpc>
              <a:buFont typeface="Arial"/>
              <a:buChar char="•"/>
            </a:pPr>
            <a:r>
              <a:rPr lang="en-US" sz="3279" spc="-65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Absence of </a:t>
            </a:r>
            <a:r>
              <a:rPr lang="en-US" sz="3279" spc="-65" dirty="0" err="1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Comparitive</a:t>
            </a:r>
            <a:r>
              <a:rPr lang="en-US" sz="3279" spc="-65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 Emphasis.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7662" y="1682103"/>
            <a:ext cx="10193070" cy="0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5160864" y="8843010"/>
            <a:ext cx="209843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E8E6E3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662" y="399110"/>
            <a:ext cx="9287548" cy="1135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6"/>
              </a:lnSpc>
            </a:pPr>
            <a:r>
              <a:rPr lang="en-US" sz="6675" spc="-267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Recommendations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7471" y="1916756"/>
            <a:ext cx="17673059" cy="7556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1069" lvl="1" indent="-465534" algn="l">
              <a:lnSpc>
                <a:spcPts val="7546"/>
              </a:lnSpc>
              <a:buFont typeface="Arial"/>
              <a:buChar char="•"/>
            </a:pPr>
            <a:r>
              <a:rPr lang="en-US" sz="4312" spc="-86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Apply Gestalt Principles of Proximity, thereby improving Visual Hierarchy.</a:t>
            </a:r>
          </a:p>
          <a:p>
            <a:pPr marL="931069" lvl="1" indent="-465534" algn="l">
              <a:lnSpc>
                <a:spcPts val="7546"/>
              </a:lnSpc>
              <a:buFont typeface="Arial"/>
              <a:buChar char="•"/>
            </a:pPr>
            <a:r>
              <a:rPr lang="en-US" sz="4312" spc="-86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Apply Tufte’s Principle of Data Density to emphasize clarity and precision.</a:t>
            </a:r>
          </a:p>
          <a:p>
            <a:pPr marL="931069" lvl="1" indent="-465534" algn="l">
              <a:lnSpc>
                <a:spcPts val="7546"/>
              </a:lnSpc>
              <a:buFont typeface="Arial"/>
              <a:buChar char="•"/>
            </a:pPr>
            <a:r>
              <a:rPr lang="en-US" sz="4312" spc="-86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Reduce cognitive load.</a:t>
            </a:r>
          </a:p>
          <a:p>
            <a:pPr marL="931069" lvl="1" indent="-465534" algn="l">
              <a:lnSpc>
                <a:spcPts val="7546"/>
              </a:lnSpc>
              <a:buFont typeface="Arial"/>
              <a:buChar char="•"/>
            </a:pPr>
            <a:r>
              <a:rPr lang="en-US" sz="4312" spc="-86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Consider greater precision for low-activity periods.</a:t>
            </a:r>
          </a:p>
          <a:p>
            <a:pPr marL="931069" lvl="1" indent="-465534" algn="l">
              <a:lnSpc>
                <a:spcPts val="7546"/>
              </a:lnSpc>
              <a:buFont typeface="Arial"/>
              <a:buChar char="•"/>
            </a:pPr>
            <a:r>
              <a:rPr lang="en-US" sz="4312" spc="-86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Apply Gestalt Principle of Similarity.</a:t>
            </a:r>
          </a:p>
          <a:p>
            <a:pPr marL="931069" lvl="1" indent="-465534" algn="l">
              <a:lnSpc>
                <a:spcPts val="7546"/>
              </a:lnSpc>
              <a:buFont typeface="Arial"/>
              <a:buChar char="•"/>
            </a:pPr>
            <a:r>
              <a:rPr lang="en-US" sz="4312" spc="-86" dirty="0">
                <a:solidFill>
                  <a:srgbClr val="36211B"/>
                </a:solidFill>
                <a:latin typeface="Public Sans"/>
                <a:ea typeface="Public Sans"/>
                <a:cs typeface="Public Sans"/>
                <a:sym typeface="Public Sans"/>
              </a:rPr>
              <a:t>Consider use of colin ware’s theory for color differentiation.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7662" y="1470266"/>
            <a:ext cx="17629326" cy="0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376223"/>
          </a:xfrm>
          <a:custGeom>
            <a:avLst/>
            <a:gdLst/>
            <a:ahLst/>
            <a:cxnLst/>
            <a:rect l="l" t="t" r="r" b="b"/>
            <a:pathLst>
              <a:path w="18288000" h="376223">
                <a:moveTo>
                  <a:pt x="0" y="0"/>
                </a:moveTo>
                <a:lnTo>
                  <a:pt x="18288000" y="0"/>
                </a:lnTo>
                <a:lnTo>
                  <a:pt x="18288000" y="376223"/>
                </a:lnTo>
                <a:lnTo>
                  <a:pt x="0" y="37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1929" b="-110235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83768" y="1617904"/>
            <a:ext cx="15440955" cy="8669096"/>
          </a:xfrm>
          <a:custGeom>
            <a:avLst/>
            <a:gdLst/>
            <a:ahLst/>
            <a:cxnLst/>
            <a:rect l="l" t="t" r="r" b="b"/>
            <a:pathLst>
              <a:path w="15440955" h="8669096">
                <a:moveTo>
                  <a:pt x="0" y="0"/>
                </a:moveTo>
                <a:lnTo>
                  <a:pt x="15440956" y="0"/>
                </a:lnTo>
                <a:lnTo>
                  <a:pt x="15440956" y="8669096"/>
                </a:lnTo>
                <a:lnTo>
                  <a:pt x="0" y="86690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0" r="-388" b="-260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60864" y="8843010"/>
            <a:ext cx="2098436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spc="-48">
                <a:solidFill>
                  <a:srgbClr val="E8E6E3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662" y="418160"/>
            <a:ext cx="17854542" cy="904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14"/>
              </a:lnSpc>
            </a:pPr>
            <a:r>
              <a:rPr lang="en-US" sz="5296" spc="-211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Demonstration of a applied recommendations using </a:t>
            </a:r>
            <a:r>
              <a:rPr lang="en-US" sz="5296" spc="-211" dirty="0" err="1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PowerBI</a:t>
            </a:r>
            <a:endParaRPr lang="en-US" sz="5296" spc="-211" dirty="0">
              <a:solidFill>
                <a:srgbClr val="36211B"/>
              </a:solidFill>
              <a:latin typeface="Fraunces Light"/>
              <a:ea typeface="Fraunces Light"/>
              <a:cs typeface="Fraunces Light"/>
              <a:sym typeface="Fraunces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6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0" y="-132173"/>
            <a:ext cx="7190866" cy="116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14"/>
              </a:lnSpc>
            </a:pPr>
            <a:r>
              <a:rPr lang="en-US" sz="6796" spc="-271" dirty="0">
                <a:solidFill>
                  <a:srgbClr val="36211B"/>
                </a:solidFill>
                <a:latin typeface="Fraunces Light"/>
                <a:ea typeface="Fraunces Light"/>
                <a:cs typeface="Fraunces Light"/>
                <a:sym typeface="Fraunces Light"/>
              </a:rPr>
              <a:t>References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0" y="1028700"/>
            <a:ext cx="5363486" cy="4762"/>
          </a:xfrm>
          <a:prstGeom prst="line">
            <a:avLst/>
          </a:prstGeom>
          <a:ln w="9525" cap="flat">
            <a:solidFill>
              <a:srgbClr val="36211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0" y="1164383"/>
            <a:ext cx="17503042" cy="918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3165" lvl="1" indent="-346583" algn="l">
              <a:lnSpc>
                <a:spcPts val="4494"/>
              </a:lnSpc>
              <a:buFont typeface="Arial"/>
              <a:buChar char="•"/>
            </a:pP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Cairo, A. (2019). How charts lie: Getting smarter about visual information. W.W. Norton &amp; Company.</a:t>
            </a:r>
          </a:p>
          <a:p>
            <a:pPr marL="693165" lvl="1" indent="-346583" algn="l">
              <a:lnSpc>
                <a:spcPts val="4494"/>
              </a:lnSpc>
              <a:buFont typeface="Arial"/>
              <a:buChar char="•"/>
            </a:pP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Few, S. (2009). Now you see it: Simple </a:t>
            </a:r>
            <a:r>
              <a:rPr lang="en-US" sz="3210" spc="-64" dirty="0" err="1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visualisation</a:t>
            </a: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techniques for quantitative analysis. Analytics Press.</a:t>
            </a:r>
          </a:p>
          <a:p>
            <a:pPr marL="693165" lvl="1" indent="-346583" algn="l">
              <a:lnSpc>
                <a:spcPts val="4494"/>
              </a:lnSpc>
              <a:buFont typeface="Arial"/>
              <a:buChar char="•"/>
            </a:pP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Few, S. (2012). Show me the numbers: Designing tables and graphs to enlighten (2nd ed.). Analytics Press.</a:t>
            </a:r>
          </a:p>
          <a:p>
            <a:pPr marL="693165" lvl="1" indent="-346583" algn="l">
              <a:lnSpc>
                <a:spcPts val="4494"/>
              </a:lnSpc>
              <a:buFont typeface="Arial"/>
              <a:buChar char="•"/>
            </a:pP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Knaflic, C. N. (2015). Storytelling with data: A data </a:t>
            </a:r>
            <a:r>
              <a:rPr lang="en-US" sz="3210" spc="-64" dirty="0" err="1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visualisation</a:t>
            </a: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guide for business professionals. Wiley.</a:t>
            </a:r>
          </a:p>
          <a:p>
            <a:pPr marL="693165" lvl="1" indent="-346583" algn="l">
              <a:lnSpc>
                <a:spcPts val="4494"/>
              </a:lnSpc>
              <a:buFont typeface="Arial"/>
              <a:buChar char="•"/>
            </a:pP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Munzner, T. (2014). </a:t>
            </a:r>
            <a:r>
              <a:rPr lang="en-US" sz="3210" spc="-64" dirty="0" err="1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Visualisation</a:t>
            </a: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analysis and design. CRC Press.</a:t>
            </a:r>
          </a:p>
          <a:p>
            <a:pPr marL="693165" lvl="1" indent="-346583" algn="l">
              <a:lnSpc>
                <a:spcPts val="4494"/>
              </a:lnSpc>
              <a:buFont typeface="Arial"/>
              <a:buChar char="•"/>
            </a:pP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Rensink, R. A. (2014). The extended-vision thesis. In M. Mueller, A. E. Kaufman, &amp; H. Hagen (Eds.), Handbook of human computation (pp. 169-182). Springer.</a:t>
            </a:r>
          </a:p>
          <a:p>
            <a:pPr marL="693165" lvl="1" indent="-346583" algn="l">
              <a:lnSpc>
                <a:spcPts val="4494"/>
              </a:lnSpc>
              <a:buFont typeface="Arial"/>
              <a:buChar char="•"/>
            </a:pP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Tufte, E. R. (1984). The visual display of quantitative information. Graphics Press.</a:t>
            </a:r>
          </a:p>
          <a:p>
            <a:pPr marL="693165" lvl="1" indent="-346583" algn="l">
              <a:lnSpc>
                <a:spcPts val="4494"/>
              </a:lnSpc>
              <a:buFont typeface="Arial"/>
              <a:buChar char="•"/>
            </a:pP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Ware, C. (2021). Information </a:t>
            </a:r>
            <a:r>
              <a:rPr lang="en-US" sz="3210" spc="-64" dirty="0" err="1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visualisation</a:t>
            </a: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 Perception for design (4th ed.). Morgan Kaufmann.</a:t>
            </a:r>
          </a:p>
          <a:p>
            <a:pPr marL="693165" lvl="1" indent="-346583" algn="l">
              <a:lnSpc>
                <a:spcPts val="4494"/>
              </a:lnSpc>
              <a:buFont typeface="Arial"/>
              <a:buChar char="•"/>
            </a:pP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Kirk, A. (n.d.). Visual hierarchy in data </a:t>
            </a:r>
            <a:r>
              <a:rPr lang="en-US" sz="3210" spc="-64" dirty="0" err="1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visualisation</a:t>
            </a:r>
            <a:r>
              <a:rPr lang="en-US" sz="3210" spc="-64" dirty="0">
                <a:solidFill>
                  <a:srgbClr val="36211B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. Visualising Data. https://www.visualisingdata.com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504</Words>
  <Application>Microsoft Office PowerPoint</Application>
  <PresentationFormat>Custom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Public Sans Thin</vt:lpstr>
      <vt:lpstr>Public Sans Bold</vt:lpstr>
      <vt:lpstr>Fraunces</vt:lpstr>
      <vt:lpstr>Arial</vt:lpstr>
      <vt:lpstr>Fraunces Light</vt:lpstr>
      <vt:lpstr>Public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Marketing</dc:title>
  <cp:lastModifiedBy>Aditi Manuwal</cp:lastModifiedBy>
  <cp:revision>4</cp:revision>
  <dcterms:created xsi:type="dcterms:W3CDTF">2006-08-16T00:00:00Z</dcterms:created>
  <dcterms:modified xsi:type="dcterms:W3CDTF">2024-11-01T12:07:06Z</dcterms:modified>
  <dc:identifier>DAGUnH_ptzQ</dc:identifier>
</cp:coreProperties>
</file>